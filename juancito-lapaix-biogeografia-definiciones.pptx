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72" r:id="rId14"/>
    <p:sldId id="273" r:id="rId15"/>
    <p:sldId id="274" r:id="rId16"/>
    <p:sldId id="275" r:id="rId17"/>
    <p:sldId id="268" r:id="rId18"/>
    <p:sldId id="269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17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5B45"/>
          </a:solidFill>
          <a:ln w="12700">
            <a:solidFill>
              <a:srgbClr val="245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67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BIOGEOGRAFÍA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46F"/>
                </a:solidFill>
              </a:rPr>
              <a:t>Juancito Lapaix Ovalle · BF-0267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/>
              </a:rPr>
              <a:t>¿QUÉ ES LA</a:t>
            </a:r>
            <a:endParaRPr lang="en-US" sz="4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/>
              </a:rPr>
              <a:t>BIOGEOGRAFÍA?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58952" y="2697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9E1"/>
                </a:solidFill>
                <a:latin typeface="Aptos"/>
              </a:rPr>
              <a:t>Definición, objeto y alcance · vida en el espacio y el tiempo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58952" y="3337560"/>
            <a:ext cx="5029200" cy="0"/>
          </a:xfrm>
          <a:prstGeom prst="line">
            <a:avLst/>
          </a:prstGeom>
          <a:noFill/>
          <a:ln w="15240">
            <a:solidFill>
              <a:srgbClr val="C6D7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58952" y="3675888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/>
              </a:rPr>
              <a:t>Juancito Lapaix Ovalle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/>
              </a:rPr>
              <a:t>Matrícula: BF-0267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/>
              </a:rPr>
              <a:t>Asignatura: Biogeografía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/>
              </a:rPr>
              <a:t>Maestro: El Tali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6676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DDE9E1"/>
                </a:solidFill>
                <a:latin typeface="Aptos"/>
              </a:rPr>
              <a:t>PRESENTACIÓN DE UNIDAD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32520" y="1828800"/>
            <a:ext cx="2057400" cy="2057400"/>
          </a:xfrm>
          <a:prstGeom prst="ellipse">
            <a:avLst/>
          </a:prstGeom>
          <a:solidFill>
            <a:srgbClr val="DDE9E1">
              <a:alpha val="96000"/>
            </a:srgbClr>
          </a:solidFill>
          <a:ln w="12700">
            <a:solidFill>
              <a:srgbClr val="DDE9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15400" y="23317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ESPACIO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+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TIEMPO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12A"/>
                </a:solidFill>
                <a:latin typeface="Aptos"/>
              </a:rPr>
              <a:t>Índice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50876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075688"/>
            <a:ext cx="4709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Concepto y objeto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0" y="16916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075688"/>
            <a:ext cx="4709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Distribución en espacio y tiempo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493008"/>
            <a:ext cx="4709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Escalas espaciales y temporales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493008"/>
            <a:ext cx="4709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Preguntas biogeográficas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60120" y="4526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4709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Alcance, herramientas y datos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434340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0" y="4526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B45"/>
                </a:solidFill>
                <a:latin typeface="Aptos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910328"/>
            <a:ext cx="4709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Conclusiones y bibliografía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50876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La biogeografía estudia dónde se encuentran los seres vivos, cómo cambia su distribución y qué procesos la explican.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80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232D32"/>
                </a:solidFill>
                <a:latin typeface="Aptos"/>
              </a:rPr>
              <a:t>Ejemplo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: dos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especies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pueden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vivir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en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climas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parecidos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,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pero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estar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separadas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por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su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historia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evolutiva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 y por barreras </a:t>
            </a:r>
            <a:r>
              <a:rPr sz="1800" b="1" dirty="0" err="1">
                <a:solidFill>
                  <a:srgbClr val="232D32"/>
                </a:solidFill>
                <a:latin typeface="Aptos"/>
              </a:rPr>
              <a:t>geográficas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.</a:t>
            </a:r>
          </a:p>
        </p:txBody>
      </p:sp>
      <p:pic>
        <p:nvPicPr>
          <p:cNvPr id="28" name="Picture 27" descr="regiones-wal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25880"/>
            <a:ext cx="5852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OBJETO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874519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Explicar patrones de presencia, ausencia, endemismo y diversidad.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PROCESOS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42900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Dispersión · adaptación · aislamiento · especiación · extinción.</a:t>
            </a:r>
          </a:p>
        </p:txBody>
      </p:sp>
      <p:pic>
        <p:nvPicPr>
          <p:cNvPr id="30" name="Picture 29" descr="barrera-distribu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5669280" cy="33375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77840" y="4800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Ejemplo conceptual de barrera geográfica. Elaboración gráfica no generada con 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regiones-wal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6400800" cy="3703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360" y="15087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Un rango geográfico puede ser continuo, fragmentado o disyunto.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331720"/>
            <a:ext cx="374903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Factores clave:</a:t>
            </a:r>
            <a:br/>
            <a:r>
              <a:rPr sz="1800" b="0">
                <a:solidFill>
                  <a:srgbClr val="232D32"/>
                </a:solidFill>
                <a:latin typeface="Aptos"/>
              </a:rPr>
              <a:t>• clima y relieve</a:t>
            </a:r>
            <a:br/>
            <a:r>
              <a:rPr sz="1800" b="0">
                <a:solidFill>
                  <a:srgbClr val="232D32"/>
                </a:solidFill>
                <a:latin typeface="Aptos"/>
              </a:rPr>
              <a:t>• recursos y hábitat</a:t>
            </a:r>
            <a:br/>
            <a:r>
              <a:rPr sz="1800" b="0">
                <a:solidFill>
                  <a:srgbClr val="232D32"/>
                </a:solidFill>
                <a:latin typeface="Aptos"/>
              </a:rPr>
              <a:t>• barreras</a:t>
            </a:r>
            <a:br/>
            <a:r>
              <a:rPr sz="1800" b="0">
                <a:solidFill>
                  <a:srgbClr val="232D32"/>
                </a:solidFill>
                <a:latin typeface="Aptos"/>
              </a:rPr>
              <a:t>• capacidad de dispersión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43484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Ejemplo: las regiones zoogeográficas reúnen faunas con historias y afinidades distintas.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escalas-espaci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029200" cy="42062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8076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417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microhábitat y competencia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PAISAJE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240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fragmentación y conectividad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REGIONAL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063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biomas y endemismo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886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gradientes y reinos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800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Ejemplo: aves en un parque → Caribe → planeta.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scala-temporal-cl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7315200" cy="4069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75320" y="141732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32D32"/>
                </a:solidFill>
                <a:latin typeface="Aptos"/>
              </a:rPr>
              <a:t>La escala temporal determina qué mecanismo explica el patrón.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32D32"/>
                </a:solidFill>
                <a:latin typeface="Aptos"/>
              </a:rPr>
              <a:t>Ejemplo: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32D32"/>
                </a:solidFill>
                <a:latin typeface="Aptos"/>
              </a:rPr>
              <a:t>Una especie puede migrar cada año, mientras que su distribución continental puede reflejar glaciaciones ocurridas hace miles de años.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1417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¿Dónde vive una especie?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417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¿Por qué está allí y no en otro lugar?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651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¿Qué limita o expande su rango?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51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¿Cómo cambió a través del tiempo?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86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¿Por qué unas regiones son más diversas?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86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¿Cómo responderá al cambio global?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2578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D32"/>
                </a:solidFill>
                <a:latin typeface="Aptos"/>
              </a:rPr>
              <a:t>Ejemplo guía: ¿por qué una isla posee especies endémicas ausentes del continente cercano?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325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Ecológica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1325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nicho, clima y recursos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1325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Histórica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325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dispersión, vicariancia y fósiles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Conservación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endemismo y amenazas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Insular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área, aislamiento y extinción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Macroecología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9776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patrones a gran escala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Cuantitativa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9776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SIG y modelos de distribución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303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D32"/>
                </a:solidFill>
                <a:latin typeface="Aptos"/>
              </a:rPr>
              <a:t>Aplicación: localizar áreas de alto endemismo ayuda a priorizar conservación.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87451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GBIF · IUCN · WorldClim · CHELSA · NASA · repositorios nacionales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FLUJO DE TRABAJO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74903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2"/>
                </a:solidFill>
                <a:latin typeface="Aptos"/>
              </a:rPr>
              <a:t>ocurrencias + ambiente → mapa → hipótesis → predicción</a:t>
            </a:r>
          </a:p>
        </p:txBody>
      </p:sp>
      <p:pic>
        <p:nvPicPr>
          <p:cNvPr id="30" name="Picture 29" descr="regiones-wal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325880"/>
            <a:ext cx="5303520" cy="3108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89320" y="46177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Ejemplo: registros de ocurrencia + clima permiten estimar áreas potencialmente adecuadas.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1440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D32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15087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La biogeografía conecta vida, espacio y tiempo.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D32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6974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Los patrones actuales resultan de procesos ecológicos e históricos.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D32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8862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D32"/>
                </a:solidFill>
                <a:latin typeface="Aptos"/>
              </a:rPr>
              <a:t>La escala de análisis cambia la explicación y las herramientas.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D32"/>
                </a:solidFill>
                <a:latin typeface="Aptos"/>
              </a:rPr>
              <a:t>Idea final: entender distribuciones ayuda a explicar biodiversidad y orientar conservación.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5543"/>
                </a:solidFill>
                <a:latin typeface="Aptos"/>
              </a:rPr>
              <a:t>Esquema: barreras, dispersión y distribución</a:t>
            </a:r>
          </a:p>
        </p:txBody>
      </p:sp>
      <p:pic>
        <p:nvPicPr>
          <p:cNvPr id="3" name="Picture 2" descr="proc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04088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2801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32D32"/>
                </a:solidFill>
                <a:latin typeface="Aptos"/>
              </a:rPr>
              <a:t>Ejemplo: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32D32"/>
                </a:solidFill>
                <a:latin typeface="Aptos"/>
              </a:rPr>
              <a:t>Una cordillera puede aislar poblaciones; un corredor facilita dispersión y recolonización.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32D32"/>
                </a:solidFill>
                <a:latin typeface="Aptos"/>
              </a:rPr>
              <a:t>Fuente: Lomolino et al. (2022); Cox &amp; Moore (2016).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5543"/>
                </a:solidFill>
                <a:latin typeface="Aptos"/>
              </a:rPr>
              <a:t>Esquema: aislamiento en islas</a:t>
            </a:r>
          </a:p>
        </p:txBody>
      </p:sp>
      <p:pic>
        <p:nvPicPr>
          <p:cNvPr id="3" name="Picture 2" descr="is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04088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2801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dirty="0" err="1">
                <a:solidFill>
                  <a:srgbClr val="232D32"/>
                </a:solidFill>
                <a:latin typeface="Aptos"/>
              </a:rPr>
              <a:t>Ejemplo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: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32D32"/>
                </a:solidFill>
                <a:latin typeface="Aptos"/>
              </a:rPr>
              <a:t>Una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isla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lejana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recibe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menos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colonizadores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y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puede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acumular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especies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endémicas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32D32"/>
                </a:solidFill>
                <a:latin typeface="Aptos"/>
              </a:rPr>
              <a:t>Fuente: MacArthur &amp; Wilson (1967);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Lomolino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et al. (2022).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5543"/>
                </a:solidFill>
                <a:latin typeface="Aptos"/>
              </a:rPr>
              <a:t>Esquema: de los datos al mapa</a:t>
            </a:r>
          </a:p>
        </p:txBody>
      </p:sp>
      <p:pic>
        <p:nvPicPr>
          <p:cNvPr id="3" name="Picture 2" descr="fl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04088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2801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32D32"/>
                </a:solidFill>
                <a:latin typeface="Aptos"/>
              </a:rPr>
              <a:t>Ejemplo: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32D32"/>
                </a:solidFill>
                <a:latin typeface="Aptos"/>
              </a:rPr>
              <a:t>Los registros de presencia se combinan con clima y relieve para estudiar distribuciones.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32D32"/>
                </a:solidFill>
                <a:latin typeface="Aptos"/>
              </a:rPr>
              <a:t>Fuente: GBIF; WorldClim; Borcard et al. (2018).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5543"/>
                </a:solidFill>
                <a:latin typeface="Aptos"/>
              </a:rPr>
              <a:t>Ejemplo histórico: regiones zoogeográficas de Wallace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04088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2801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dirty="0" err="1">
                <a:solidFill>
                  <a:srgbClr val="232D32"/>
                </a:solidFill>
                <a:latin typeface="Aptos"/>
              </a:rPr>
              <a:t>Ejemplo</a:t>
            </a:r>
            <a:r>
              <a:rPr sz="1800" b="1" dirty="0">
                <a:solidFill>
                  <a:srgbClr val="232D32"/>
                </a:solidFill>
                <a:latin typeface="Aptos"/>
              </a:rPr>
              <a:t>: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32D32"/>
                </a:solidFill>
                <a:latin typeface="Aptos"/>
              </a:rPr>
              <a:t>Neotropical y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Neártica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presentan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faunas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distintas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por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historia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, </a:t>
            </a:r>
            <a:r>
              <a:rPr sz="1800" b="0" dirty="0" err="1">
                <a:solidFill>
                  <a:srgbClr val="232D32"/>
                </a:solidFill>
                <a:latin typeface="Aptos"/>
              </a:rPr>
              <a:t>clima</a:t>
            </a:r>
            <a:r>
              <a:rPr sz="1800" b="0" dirty="0">
                <a:solidFill>
                  <a:srgbClr val="232D32"/>
                </a:solidFill>
                <a:latin typeface="Aptos"/>
              </a:rPr>
              <a:t> y barreras.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rgbClr val="232D32"/>
                </a:solidFill>
                <a:latin typeface="Aptos"/>
              </a:rPr>
              <a:t>Fuente: Wallace (1876), The Geographical Distribution of Animals.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AF767-C236-452C-8EA0-80BA101E3E4B}"/>
              </a:ext>
            </a:extLst>
          </p:cNvPr>
          <p:cNvSpPr txBox="1"/>
          <p:nvPr/>
        </p:nvSpPr>
        <p:spPr>
          <a:xfrm>
            <a:off x="900953" y="1998949"/>
            <a:ext cx="97491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s-DO" b="1" dirty="0">
                <a:solidFill>
                  <a:srgbClr val="17312A"/>
                </a:solidFill>
                <a:latin typeface="Aptos"/>
              </a:rPr>
              <a:t>Conclusión </a:t>
            </a:r>
          </a:p>
          <a:p>
            <a:pPr algn="just">
              <a:spcAft>
                <a:spcPts val="1200"/>
              </a:spcAft>
            </a:pPr>
            <a:r>
              <a:rPr lang="es-DO" dirty="0">
                <a:solidFill>
                  <a:srgbClr val="232D32"/>
                </a:solidFill>
                <a:latin typeface="Aptos"/>
              </a:rPr>
              <a:t>La biogeografía nos permite comprender cómo se distribuyen los seres vivos en diferentes lugares y cómo esa distribución ha cambiado a través del tiempo. Su estudio ayuda a explicar la influencia del clima, la evolución, las barreras geográficas y la dispersión de las especies. Además, es una herramienta importante para conocer y conservar la biodiversidad.</a:t>
            </a:r>
          </a:p>
        </p:txBody>
      </p:sp>
    </p:spTree>
    <p:extLst>
      <p:ext uri="{BB962C8B-B14F-4D97-AF65-F5344CB8AC3E}">
        <p14:creationId xmlns:p14="http://schemas.microsoft.com/office/powerpoint/2010/main" val="24772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12A"/>
                </a:solidFill>
                <a:latin typeface="Aptos"/>
              </a:rPr>
              <a:t>Bibliografía básica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97280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Lomolino, M. V., Riddle, B. R., Whittaker, R. J. &amp; Brown, J. H. (2022). Biogeography (6.ª ed.).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Cox, C. B., Moore, P. D. &amp; Ladle, R. J. (2016). Biogeography: An Ecological and Evolutionary Approach (9.ª ed.). Wiley.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Brown, J. H. &amp; Lomolino, M. V. (1998). Biogeography (2.ª ed.). Sinauer.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Legendre, P. &amp; Legendre, L. (2012). Numerical Ecology (3.ª ed.). Elsevier.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Borcard, D., Gillet, F. &amp; Legendre, P. (2018). Numerical Ecology with R (2.ª ed.). Springer.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Zuur, A. F., Ieno, E. N. &amp; Smith, G. M. (2007). Analysing Ecological Data. Springer.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Huggett, R. J. (2004). Fundamentals of Biogeography (2.ª ed.). Routledge.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2A"/>
                </a:solidFill>
                <a:latin typeface="Aptos"/>
              </a:rPr>
              <a:t>Rocha, Y. T. (2011). Técnicas em estudos biogeográficos. RA’E GA, 23, 398–427.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E6A65"/>
                </a:solidFill>
                <a:latin typeface="Aptos"/>
              </a:rPr>
              <a:t>Revistas de consulta: Journal of Biogeography · Global Ecology and Biogeography · Ecography · Diversity and Distributions · Nature · Science · Ecology · Evolution · Systematic Biology · Conservation Biology.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latin typeface="Aptos"/>
              </a:rPr>
              <a:t>Wallace, A. R. (1876). The Geographical Distribution of Animals.</a:t>
            </a:r>
          </a:p>
          <a:p>
            <a:pPr>
              <a:spcAft>
                <a:spcPts val="1400"/>
              </a:spcAft>
            </a:pPr>
            <a:r>
              <a:rPr sz="1800">
                <a:latin typeface="Aptos"/>
              </a:rPr>
              <a:t>El mapa de regiones zoogeográficas se basa en la clasificación histórica de Wallace.</a:t>
            </a:r>
          </a:p>
          <a:p>
            <a:pPr>
              <a:spcAft>
                <a:spcPts val="1400"/>
              </a:spcAft>
            </a:pPr>
            <a:r>
              <a:rPr sz="1800">
                <a:latin typeface="Aptos"/>
              </a:rPr>
              <a:t>Los esquemas de escalas espaciales, temporales y barreras geográficas se utilizan como apoyo didáctico.</a:t>
            </a:r>
          </a:p>
          <a:p>
            <a:pPr>
              <a:spcAft>
                <a:spcPts val="1400"/>
              </a:spcAft>
            </a:pPr>
            <a:r>
              <a:rPr sz="1800">
                <a:latin typeface="Aptos"/>
              </a:rPr>
              <a:t>Ejemplo: las regiones Neotropical y Neártica permiten comparar faunas con historias biogeográficas diferentes.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5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/>
              </a:rPr>
              <a:t>GRACIAS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9E1"/>
                </a:solidFill>
                <a:latin typeface="Aptos"/>
              </a:rPr>
              <a:t>¿Preguntas?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/>
              </a:rPr>
              <a:t>Juancito Lapaix Ovalle · BF-0267 · Biogeografía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C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995</Words>
  <Application>Microsoft Office PowerPoint</Application>
  <PresentationFormat>Panorámica</PresentationFormat>
  <Paragraphs>139</Paragraphs>
  <Slides>19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la biogeografía?</dc:title>
  <dc:subject>Biogeografía</dc:subject>
  <dc:creator>Juancito Lapaix Ovalle</dc:creator>
  <cp:lastModifiedBy>juancito lapaix</cp:lastModifiedBy>
  <cp:revision>4</cp:revision>
  <dcterms:created xsi:type="dcterms:W3CDTF">2026-09-01T03:20:55Z</dcterms:created>
  <dcterms:modified xsi:type="dcterms:W3CDTF">2026-09-01T04:40:40Z</dcterms:modified>
</cp:coreProperties>
</file>