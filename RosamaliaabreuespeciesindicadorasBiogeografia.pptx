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Helios Extended Bold" charset="1" panose="02000805050000020004"/>
      <p:regular r:id="rId15"/>
    </p:embeddedFont>
    <p:embeddedFont>
      <p:font typeface="DM Sans Bold" charset="1" panose="00000000000000000000"/>
      <p:regular r:id="rId16"/>
    </p:embeddedFont>
    <p:embeddedFont>
      <p:font typeface="DM Sans" charset="1" panose="00000000000000000000"/>
      <p:regular r:id="rId17"/>
    </p:embeddedFont>
    <p:embeddedFont>
      <p:font typeface="Open Sauce" charset="1" panose="00000500000000000000"/>
      <p:regular r:id="rId18"/>
    </p:embeddedFont>
    <p:embeddedFont>
      <p:font typeface="Open Sans" charset="1" panose="020B0606030504020204"/>
      <p:regular r:id="rId19"/>
    </p:embeddedFont>
    <p:embeddedFont>
      <p:font typeface="DM Sans Italics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https://es.wikipedia.org/wiki/Todus_subulatus" TargetMode="External" Type="http://schemas.openxmlformats.org/officeDocument/2006/relationships/hyperlink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4955" y="3309691"/>
            <a:ext cx="17157513" cy="356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b="true" sz="8000" spc="192">
                <a:solidFill>
                  <a:srgbClr val="FFFEF7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EL ESTUDIO DE LAS ESPECIES INDICADORAS Y LAS PREFERENCIAS DE HÁBITAT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431514" y="8263879"/>
            <a:ext cx="13424971" cy="244356"/>
            <a:chOff x="0" y="0"/>
            <a:chExt cx="17899962" cy="32580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9050"/>
              <a:ext cx="4632430" cy="344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1"/>
                </a:lnSpc>
                <a:spcBef>
                  <a:spcPct val="0"/>
                </a:spcBef>
              </a:pPr>
              <a:r>
                <a:rPr lang="en-US" b="true" sz="1629" spc="39">
                  <a:solidFill>
                    <a:srgbClr val="FFFE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ROSAMALIA ABREU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3267532" y="-19050"/>
              <a:ext cx="4632430" cy="344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281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684582" y="2025804"/>
            <a:ext cx="559232" cy="470454"/>
          </a:xfrm>
          <a:custGeom>
            <a:avLst/>
            <a:gdLst/>
            <a:ahLst/>
            <a:cxnLst/>
            <a:rect r="r" b="b" t="t" l="l"/>
            <a:pathLst>
              <a:path h="470454" w="559232">
                <a:moveTo>
                  <a:pt x="0" y="0"/>
                </a:moveTo>
                <a:lnTo>
                  <a:pt x="559232" y="0"/>
                </a:lnTo>
                <a:lnTo>
                  <a:pt x="559232" y="470454"/>
                </a:lnTo>
                <a:lnTo>
                  <a:pt x="0" y="470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420670" y="2138853"/>
            <a:ext cx="2182749" cy="263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1"/>
              </a:lnSpc>
              <a:spcBef>
                <a:spcPct val="0"/>
              </a:spcBef>
            </a:pPr>
            <a:r>
              <a:rPr lang="en-US" b="true" sz="1629" spc="39">
                <a:solidFill>
                  <a:srgbClr val="FFFEF7"/>
                </a:solidFill>
                <a:latin typeface="DM Sans Bold"/>
                <a:ea typeface="DM Sans Bold"/>
                <a:cs typeface="DM Sans Bold"/>
                <a:sym typeface="DM Sans Bold"/>
              </a:rPr>
              <a:t>BIOGEOGRAFIA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28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-5400000">
            <a:off x="-4973932" y="3721658"/>
            <a:ext cx="12910140" cy="2710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39"/>
              </a:lnSpc>
            </a:pPr>
            <a:r>
              <a:rPr lang="en-US" b="true" sz="21181" spc="-1164">
                <a:solidFill>
                  <a:srgbClr val="FFFEF7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ÍNDICE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778059" y="3339135"/>
            <a:ext cx="3481771" cy="632194"/>
            <a:chOff x="0" y="0"/>
            <a:chExt cx="4642362" cy="842925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4642362" cy="842925"/>
              <a:chOff x="0" y="0"/>
              <a:chExt cx="872355" cy="158369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72355" cy="158369"/>
              </a:xfrm>
              <a:custGeom>
                <a:avLst/>
                <a:gdLst/>
                <a:ahLst/>
                <a:cxnLst/>
                <a:rect r="r" b="b" t="t" l="l"/>
                <a:pathLst>
                  <a:path h="158369" w="872355">
                    <a:moveTo>
                      <a:pt x="872355" y="79185"/>
                    </a:moveTo>
                    <a:lnTo>
                      <a:pt x="872355" y="79185"/>
                    </a:lnTo>
                    <a:cubicBezTo>
                      <a:pt x="872355" y="100186"/>
                      <a:pt x="864013" y="120326"/>
                      <a:pt x="849163" y="135176"/>
                    </a:cubicBezTo>
                    <a:cubicBezTo>
                      <a:pt x="834313" y="150026"/>
                      <a:pt x="814172" y="158369"/>
                      <a:pt x="793171" y="158369"/>
                    </a:cubicBezTo>
                    <a:lnTo>
                      <a:pt x="79185" y="158369"/>
                    </a:lnTo>
                    <a:cubicBezTo>
                      <a:pt x="58183" y="158369"/>
                      <a:pt x="38043" y="150026"/>
                      <a:pt x="23193" y="135176"/>
                    </a:cubicBezTo>
                    <a:cubicBezTo>
                      <a:pt x="8343" y="120326"/>
                      <a:pt x="0" y="100186"/>
                      <a:pt x="0" y="79185"/>
                    </a:cubicBezTo>
                    <a:lnTo>
                      <a:pt x="0" y="79185"/>
                    </a:lnTo>
                    <a:cubicBezTo>
                      <a:pt x="0" y="58183"/>
                      <a:pt x="8343" y="38043"/>
                      <a:pt x="23193" y="23193"/>
                    </a:cubicBezTo>
                    <a:cubicBezTo>
                      <a:pt x="38043" y="8343"/>
                      <a:pt x="58183" y="0"/>
                      <a:pt x="79185" y="0"/>
                    </a:cubicBezTo>
                    <a:lnTo>
                      <a:pt x="793171" y="0"/>
                    </a:lnTo>
                    <a:cubicBezTo>
                      <a:pt x="814172" y="0"/>
                      <a:pt x="834313" y="8343"/>
                      <a:pt x="849163" y="23193"/>
                    </a:cubicBezTo>
                    <a:cubicBezTo>
                      <a:pt x="864013" y="38043"/>
                      <a:pt x="872355" y="58183"/>
                      <a:pt x="872355" y="79185"/>
                    </a:cubicBezTo>
                    <a:close/>
                  </a:path>
                </a:pathLst>
              </a:custGeom>
              <a:solidFill>
                <a:srgbClr val="FFFEF7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0"/>
                <a:ext cx="872355" cy="1583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71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1442639" y="170661"/>
              <a:ext cx="2895855" cy="5111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53"/>
                </a:lnSpc>
                <a:spcBef>
                  <a:spcPct val="0"/>
                </a:spcBef>
              </a:pPr>
              <a:r>
                <a:rPr lang="en-US" b="true" sz="2627" spc="-78">
                  <a:solidFill>
                    <a:srgbClr val="28282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Introducción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31502" y="170661"/>
              <a:ext cx="1011137" cy="5111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53"/>
                </a:lnSpc>
              </a:pPr>
              <a:r>
                <a:rPr lang="en-US" sz="2627" spc="-78">
                  <a:solidFill>
                    <a:srgbClr val="282828"/>
                  </a:solidFill>
                  <a:latin typeface="DM Sans"/>
                  <a:ea typeface="DM Sans"/>
                  <a:cs typeface="DM Sans"/>
                  <a:sym typeface="DM Sans"/>
                </a:rPr>
                <a:t>01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303175" y="3339135"/>
            <a:ext cx="5049716" cy="632194"/>
            <a:chOff x="0" y="0"/>
            <a:chExt cx="6732954" cy="842925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732954" cy="842925"/>
              <a:chOff x="0" y="0"/>
              <a:chExt cx="1265203" cy="15836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65203" cy="158369"/>
              </a:xfrm>
              <a:custGeom>
                <a:avLst/>
                <a:gdLst/>
                <a:ahLst/>
                <a:cxnLst/>
                <a:rect r="r" b="b" t="t" l="l"/>
                <a:pathLst>
                  <a:path h="158369" w="1265203">
                    <a:moveTo>
                      <a:pt x="1265203" y="79185"/>
                    </a:moveTo>
                    <a:lnTo>
                      <a:pt x="1265203" y="79185"/>
                    </a:lnTo>
                    <a:cubicBezTo>
                      <a:pt x="1265203" y="100186"/>
                      <a:pt x="1256860" y="120326"/>
                      <a:pt x="1242010" y="135176"/>
                    </a:cubicBezTo>
                    <a:cubicBezTo>
                      <a:pt x="1227160" y="150026"/>
                      <a:pt x="1207019" y="158369"/>
                      <a:pt x="1186018" y="158369"/>
                    </a:cubicBezTo>
                    <a:lnTo>
                      <a:pt x="79185" y="158369"/>
                    </a:lnTo>
                    <a:cubicBezTo>
                      <a:pt x="58183" y="158369"/>
                      <a:pt x="38043" y="150026"/>
                      <a:pt x="23193" y="135176"/>
                    </a:cubicBezTo>
                    <a:cubicBezTo>
                      <a:pt x="8343" y="120326"/>
                      <a:pt x="0" y="100186"/>
                      <a:pt x="0" y="79185"/>
                    </a:cubicBezTo>
                    <a:lnTo>
                      <a:pt x="0" y="79185"/>
                    </a:lnTo>
                    <a:cubicBezTo>
                      <a:pt x="0" y="58183"/>
                      <a:pt x="8343" y="38043"/>
                      <a:pt x="23193" y="23193"/>
                    </a:cubicBezTo>
                    <a:cubicBezTo>
                      <a:pt x="38043" y="8343"/>
                      <a:pt x="58183" y="0"/>
                      <a:pt x="79185" y="0"/>
                    </a:cubicBezTo>
                    <a:lnTo>
                      <a:pt x="1186018" y="0"/>
                    </a:lnTo>
                    <a:cubicBezTo>
                      <a:pt x="1207019" y="0"/>
                      <a:pt x="1227160" y="8343"/>
                      <a:pt x="1242010" y="23193"/>
                    </a:cubicBezTo>
                    <a:cubicBezTo>
                      <a:pt x="1256860" y="38043"/>
                      <a:pt x="1265203" y="58183"/>
                      <a:pt x="1265203" y="79185"/>
                    </a:cubicBezTo>
                    <a:close/>
                  </a:path>
                </a:pathLst>
              </a:custGeom>
              <a:solidFill>
                <a:srgbClr val="FFFEF7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0"/>
                <a:ext cx="1265203" cy="158369"/>
              </a:xfrm>
              <a:prstGeom prst="rect">
                <a:avLst/>
              </a:prstGeom>
            </p:spPr>
            <p:txBody>
              <a:bodyPr anchor="ctr" rtlCol="false" tIns="53400" lIns="53400" bIns="53400" rIns="53400"/>
              <a:lstStyle/>
              <a:p>
                <a:pPr algn="ctr">
                  <a:lnSpc>
                    <a:spcPts val="2671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2001652" y="170661"/>
              <a:ext cx="4165791" cy="5111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53"/>
                </a:lnSpc>
                <a:spcBef>
                  <a:spcPct val="0"/>
                </a:spcBef>
              </a:pPr>
              <a:r>
                <a:rPr lang="en-US" b="true" sz="2627" spc="-78">
                  <a:solidFill>
                    <a:srgbClr val="28282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especie indicadora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598706" y="164481"/>
              <a:ext cx="1402946" cy="5234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53"/>
                </a:lnSpc>
                <a:spcBef>
                  <a:spcPct val="0"/>
                </a:spcBef>
              </a:pPr>
              <a:r>
                <a:rPr lang="en-US" sz="2627" spc="-78" strike="noStrike" u="none">
                  <a:solidFill>
                    <a:srgbClr val="282828"/>
                  </a:solidFill>
                  <a:latin typeface="DM Sans"/>
                  <a:ea typeface="DM Sans"/>
                  <a:cs typeface="DM Sans"/>
                  <a:sym typeface="DM Sans"/>
                </a:rPr>
                <a:t>02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778059" y="4328882"/>
            <a:ext cx="8574831" cy="632194"/>
            <a:chOff x="0" y="0"/>
            <a:chExt cx="11433108" cy="842925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1433108" cy="842925"/>
              <a:chOff x="0" y="0"/>
              <a:chExt cx="2148418" cy="158369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148418" cy="158369"/>
              </a:xfrm>
              <a:custGeom>
                <a:avLst/>
                <a:gdLst/>
                <a:ahLst/>
                <a:cxnLst/>
                <a:rect r="r" b="b" t="t" l="l"/>
                <a:pathLst>
                  <a:path h="158369" w="2148418">
                    <a:moveTo>
                      <a:pt x="2148418" y="79185"/>
                    </a:moveTo>
                    <a:lnTo>
                      <a:pt x="2148418" y="79185"/>
                    </a:lnTo>
                    <a:cubicBezTo>
                      <a:pt x="2148418" y="100186"/>
                      <a:pt x="2140075" y="120326"/>
                      <a:pt x="2125225" y="135176"/>
                    </a:cubicBezTo>
                    <a:cubicBezTo>
                      <a:pt x="2110375" y="150026"/>
                      <a:pt x="2090234" y="158369"/>
                      <a:pt x="2069233" y="158369"/>
                    </a:cubicBezTo>
                    <a:lnTo>
                      <a:pt x="79185" y="158369"/>
                    </a:lnTo>
                    <a:cubicBezTo>
                      <a:pt x="58183" y="158369"/>
                      <a:pt x="38043" y="150026"/>
                      <a:pt x="23193" y="135176"/>
                    </a:cubicBezTo>
                    <a:cubicBezTo>
                      <a:pt x="8343" y="120326"/>
                      <a:pt x="0" y="100186"/>
                      <a:pt x="0" y="79185"/>
                    </a:cubicBezTo>
                    <a:lnTo>
                      <a:pt x="0" y="79185"/>
                    </a:lnTo>
                    <a:cubicBezTo>
                      <a:pt x="0" y="58183"/>
                      <a:pt x="8343" y="38043"/>
                      <a:pt x="23193" y="23193"/>
                    </a:cubicBezTo>
                    <a:cubicBezTo>
                      <a:pt x="38043" y="8343"/>
                      <a:pt x="58183" y="0"/>
                      <a:pt x="79185" y="0"/>
                    </a:cubicBezTo>
                    <a:lnTo>
                      <a:pt x="2069233" y="0"/>
                    </a:lnTo>
                    <a:cubicBezTo>
                      <a:pt x="2090234" y="0"/>
                      <a:pt x="2110375" y="8343"/>
                      <a:pt x="2125225" y="23193"/>
                    </a:cubicBezTo>
                    <a:cubicBezTo>
                      <a:pt x="2140075" y="38043"/>
                      <a:pt x="2148418" y="58183"/>
                      <a:pt x="2148418" y="79185"/>
                    </a:cubicBezTo>
                    <a:close/>
                  </a:path>
                </a:pathLst>
              </a:custGeom>
              <a:solidFill>
                <a:srgbClr val="FFFEF7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0"/>
                <a:ext cx="2148418" cy="1583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71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1916629" y="170661"/>
              <a:ext cx="9516479" cy="5111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53"/>
                </a:lnSpc>
                <a:spcBef>
                  <a:spcPct val="0"/>
                </a:spcBef>
              </a:pPr>
              <a:r>
                <a:rPr lang="en-US" b="true" sz="2627" spc="-78">
                  <a:solidFill>
                    <a:srgbClr val="28282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la asociación entre especies y grupos de sitios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512426" y="170661"/>
              <a:ext cx="2808406" cy="5111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53"/>
                </a:lnSpc>
              </a:pPr>
              <a:r>
                <a:rPr lang="en-US" sz="2627" spc="-78">
                  <a:solidFill>
                    <a:srgbClr val="282828"/>
                  </a:solidFill>
                  <a:latin typeface="DM Sans"/>
                  <a:ea typeface="DM Sans"/>
                  <a:cs typeface="DM Sans"/>
                  <a:sym typeface="DM Sans"/>
                </a:rPr>
                <a:t>03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590016" y="6314189"/>
            <a:ext cx="3107969" cy="632194"/>
            <a:chOff x="0" y="0"/>
            <a:chExt cx="4143959" cy="842925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4143959" cy="842925"/>
              <a:chOff x="0" y="0"/>
              <a:chExt cx="778699" cy="158369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778699" cy="158369"/>
              </a:xfrm>
              <a:custGeom>
                <a:avLst/>
                <a:gdLst/>
                <a:ahLst/>
                <a:cxnLst/>
                <a:rect r="r" b="b" t="t" l="l"/>
                <a:pathLst>
                  <a:path h="158369" w="778699">
                    <a:moveTo>
                      <a:pt x="778699" y="79185"/>
                    </a:moveTo>
                    <a:lnTo>
                      <a:pt x="778699" y="79185"/>
                    </a:lnTo>
                    <a:cubicBezTo>
                      <a:pt x="778699" y="100186"/>
                      <a:pt x="770357" y="120326"/>
                      <a:pt x="755507" y="135176"/>
                    </a:cubicBezTo>
                    <a:cubicBezTo>
                      <a:pt x="740657" y="150026"/>
                      <a:pt x="720516" y="158369"/>
                      <a:pt x="699515" y="158369"/>
                    </a:cubicBezTo>
                    <a:lnTo>
                      <a:pt x="79185" y="158369"/>
                    </a:lnTo>
                    <a:cubicBezTo>
                      <a:pt x="58183" y="158369"/>
                      <a:pt x="38043" y="150026"/>
                      <a:pt x="23193" y="135176"/>
                    </a:cubicBezTo>
                    <a:cubicBezTo>
                      <a:pt x="8343" y="120326"/>
                      <a:pt x="0" y="100186"/>
                      <a:pt x="0" y="79185"/>
                    </a:cubicBezTo>
                    <a:lnTo>
                      <a:pt x="0" y="79185"/>
                    </a:lnTo>
                    <a:cubicBezTo>
                      <a:pt x="0" y="58183"/>
                      <a:pt x="8343" y="38043"/>
                      <a:pt x="23193" y="23193"/>
                    </a:cubicBezTo>
                    <a:cubicBezTo>
                      <a:pt x="38043" y="8343"/>
                      <a:pt x="58183" y="0"/>
                      <a:pt x="79185" y="0"/>
                    </a:cubicBezTo>
                    <a:lnTo>
                      <a:pt x="699515" y="0"/>
                    </a:lnTo>
                    <a:cubicBezTo>
                      <a:pt x="720516" y="0"/>
                      <a:pt x="740657" y="8343"/>
                      <a:pt x="755507" y="23193"/>
                    </a:cubicBezTo>
                    <a:cubicBezTo>
                      <a:pt x="770357" y="38043"/>
                      <a:pt x="778699" y="58183"/>
                      <a:pt x="778699" y="79185"/>
                    </a:cubicBezTo>
                    <a:close/>
                  </a:path>
                </a:pathLst>
              </a:custGeom>
              <a:solidFill>
                <a:srgbClr val="FFFEF7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0"/>
                <a:ext cx="778699" cy="1583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71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1442639" y="170661"/>
              <a:ext cx="2701319" cy="5111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53"/>
                </a:lnSpc>
                <a:spcBef>
                  <a:spcPct val="0"/>
                </a:spcBef>
              </a:pPr>
              <a:r>
                <a:rPr lang="en-US" b="true" sz="2627" spc="-78">
                  <a:solidFill>
                    <a:srgbClr val="28282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Conclusión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431502" y="170661"/>
              <a:ext cx="1011137" cy="5111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53"/>
                </a:lnSpc>
              </a:pPr>
              <a:r>
                <a:rPr lang="en-US" sz="2627" spc="-78">
                  <a:solidFill>
                    <a:srgbClr val="282828"/>
                  </a:solidFill>
                  <a:latin typeface="DM Sans"/>
                  <a:ea typeface="DM Sans"/>
                  <a:cs typeface="DM Sans"/>
                  <a:sym typeface="DM Sans"/>
                </a:rPr>
                <a:t>05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778059" y="5323025"/>
            <a:ext cx="8574831" cy="632194"/>
            <a:chOff x="0" y="0"/>
            <a:chExt cx="11433108" cy="842925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11433108" cy="842925"/>
              <a:chOff x="0" y="0"/>
              <a:chExt cx="2148418" cy="158369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148418" cy="158369"/>
              </a:xfrm>
              <a:custGeom>
                <a:avLst/>
                <a:gdLst/>
                <a:ahLst/>
                <a:cxnLst/>
                <a:rect r="r" b="b" t="t" l="l"/>
                <a:pathLst>
                  <a:path h="158369" w="2148418">
                    <a:moveTo>
                      <a:pt x="2148418" y="79185"/>
                    </a:moveTo>
                    <a:lnTo>
                      <a:pt x="2148418" y="79185"/>
                    </a:lnTo>
                    <a:cubicBezTo>
                      <a:pt x="2148418" y="100186"/>
                      <a:pt x="2140075" y="120326"/>
                      <a:pt x="2125225" y="135176"/>
                    </a:cubicBezTo>
                    <a:cubicBezTo>
                      <a:pt x="2110375" y="150026"/>
                      <a:pt x="2090234" y="158369"/>
                      <a:pt x="2069233" y="158369"/>
                    </a:cubicBezTo>
                    <a:lnTo>
                      <a:pt x="79185" y="158369"/>
                    </a:lnTo>
                    <a:cubicBezTo>
                      <a:pt x="58183" y="158369"/>
                      <a:pt x="38043" y="150026"/>
                      <a:pt x="23193" y="135176"/>
                    </a:cubicBezTo>
                    <a:cubicBezTo>
                      <a:pt x="8343" y="120326"/>
                      <a:pt x="0" y="100186"/>
                      <a:pt x="0" y="79185"/>
                    </a:cubicBezTo>
                    <a:lnTo>
                      <a:pt x="0" y="79185"/>
                    </a:lnTo>
                    <a:cubicBezTo>
                      <a:pt x="0" y="58183"/>
                      <a:pt x="8343" y="38043"/>
                      <a:pt x="23193" y="23193"/>
                    </a:cubicBezTo>
                    <a:cubicBezTo>
                      <a:pt x="38043" y="8343"/>
                      <a:pt x="58183" y="0"/>
                      <a:pt x="79185" y="0"/>
                    </a:cubicBezTo>
                    <a:lnTo>
                      <a:pt x="2069233" y="0"/>
                    </a:lnTo>
                    <a:cubicBezTo>
                      <a:pt x="2090234" y="0"/>
                      <a:pt x="2110375" y="8343"/>
                      <a:pt x="2125225" y="23193"/>
                    </a:cubicBezTo>
                    <a:cubicBezTo>
                      <a:pt x="2140075" y="38043"/>
                      <a:pt x="2148418" y="58183"/>
                      <a:pt x="2148418" y="79185"/>
                    </a:cubicBezTo>
                    <a:close/>
                  </a:path>
                </a:pathLst>
              </a:custGeom>
              <a:solidFill>
                <a:srgbClr val="FFFEF7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0"/>
                <a:ext cx="2148418" cy="1583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71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2883909" y="170661"/>
              <a:ext cx="7988031" cy="5111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53"/>
                </a:lnSpc>
                <a:spcBef>
                  <a:spcPct val="0"/>
                </a:spcBef>
              </a:pPr>
              <a:r>
                <a:rPr lang="en-US" b="true" sz="2627" spc="-78">
                  <a:solidFill>
                    <a:srgbClr val="28282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la fidelidad y la preferencia de hábitat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479656" y="170661"/>
              <a:ext cx="2021314" cy="5111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53"/>
                </a:lnSpc>
              </a:pPr>
              <a:r>
                <a:rPr lang="en-US" sz="2627" spc="-78">
                  <a:solidFill>
                    <a:srgbClr val="282828"/>
                  </a:solidFill>
                  <a:latin typeface="DM Sans"/>
                  <a:ea typeface="DM Sans"/>
                  <a:cs typeface="DM Sans"/>
                  <a:sym typeface="DM Sans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62758" y="3146038"/>
            <a:ext cx="7013774" cy="3994924"/>
          </a:xfrm>
          <a:custGeom>
            <a:avLst/>
            <a:gdLst/>
            <a:ahLst/>
            <a:cxnLst/>
            <a:rect r="r" b="b" t="t" l="l"/>
            <a:pathLst>
              <a:path h="3994924" w="7013774">
                <a:moveTo>
                  <a:pt x="0" y="0"/>
                </a:moveTo>
                <a:lnTo>
                  <a:pt x="7013775" y="0"/>
                </a:lnTo>
                <a:lnTo>
                  <a:pt x="7013775" y="3994924"/>
                </a:lnTo>
                <a:lnTo>
                  <a:pt x="0" y="39949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25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09657" y="2116136"/>
            <a:ext cx="10668686" cy="752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74"/>
              </a:lnSpc>
              <a:spcBef>
                <a:spcPct val="0"/>
              </a:spcBef>
            </a:pPr>
            <a:r>
              <a:rPr lang="en-US" b="true" sz="6040" spc="-392">
                <a:solidFill>
                  <a:srgbClr val="FFFEF7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LA B</a:t>
            </a:r>
            <a:r>
              <a:rPr lang="en-US" b="true" sz="6040" spc="-392" strike="noStrike" u="none">
                <a:solidFill>
                  <a:srgbClr val="FFFEF7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I</a:t>
            </a:r>
            <a:r>
              <a:rPr lang="en-US" b="true" sz="6040" spc="-392" strike="noStrike" u="none">
                <a:solidFill>
                  <a:srgbClr val="FFFEF7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OGEOG</a:t>
            </a:r>
            <a:r>
              <a:rPr lang="en-US" b="true" sz="6040" spc="-392" strike="noStrike" u="none">
                <a:solidFill>
                  <a:srgbClr val="FFFEF7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R</a:t>
            </a:r>
            <a:r>
              <a:rPr lang="en-US" b="true" sz="6040" spc="-392" strike="noStrike" u="none">
                <a:solidFill>
                  <a:srgbClr val="FFFEF7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AFÍA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17870" y="5181600"/>
            <a:ext cx="3420413" cy="339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57"/>
              </a:lnSpc>
            </a:pPr>
            <a:r>
              <a:rPr lang="en-US" b="true" sz="2482" spc="-74">
                <a:solidFill>
                  <a:srgbClr val="FFFEF7"/>
                </a:solidFill>
                <a:latin typeface="DM Sans Bold"/>
                <a:ea typeface="DM Sans Bold"/>
                <a:cs typeface="DM Sans Bold"/>
                <a:sym typeface="DM Sans Bold"/>
              </a:rPr>
              <a:t>CLIMA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899886" y="4693536"/>
            <a:ext cx="2256380" cy="985327"/>
            <a:chOff x="0" y="0"/>
            <a:chExt cx="505438" cy="2207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5438" cy="220717"/>
            </a:xfrm>
            <a:custGeom>
              <a:avLst/>
              <a:gdLst/>
              <a:ahLst/>
              <a:cxnLst/>
              <a:rect r="r" b="b" t="t" l="l"/>
              <a:pathLst>
                <a:path h="220717" w="505438">
                  <a:moveTo>
                    <a:pt x="68623" y="0"/>
                  </a:moveTo>
                  <a:lnTo>
                    <a:pt x="436815" y="0"/>
                  </a:lnTo>
                  <a:cubicBezTo>
                    <a:pt x="455015" y="0"/>
                    <a:pt x="472470" y="7230"/>
                    <a:pt x="485339" y="20099"/>
                  </a:cubicBezTo>
                  <a:cubicBezTo>
                    <a:pt x="498208" y="32968"/>
                    <a:pt x="505438" y="50423"/>
                    <a:pt x="505438" y="68623"/>
                  </a:cubicBezTo>
                  <a:lnTo>
                    <a:pt x="505438" y="152095"/>
                  </a:lnTo>
                  <a:cubicBezTo>
                    <a:pt x="505438" y="170294"/>
                    <a:pt x="498208" y="187749"/>
                    <a:pt x="485339" y="200618"/>
                  </a:cubicBezTo>
                  <a:cubicBezTo>
                    <a:pt x="472470" y="213487"/>
                    <a:pt x="455015" y="220717"/>
                    <a:pt x="436815" y="220717"/>
                  </a:cubicBezTo>
                  <a:lnTo>
                    <a:pt x="68623" y="220717"/>
                  </a:lnTo>
                  <a:cubicBezTo>
                    <a:pt x="50423" y="220717"/>
                    <a:pt x="32968" y="213487"/>
                    <a:pt x="20099" y="200618"/>
                  </a:cubicBezTo>
                  <a:cubicBezTo>
                    <a:pt x="7230" y="187749"/>
                    <a:pt x="0" y="170294"/>
                    <a:pt x="0" y="152095"/>
                  </a:cubicBezTo>
                  <a:lnTo>
                    <a:pt x="0" y="68623"/>
                  </a:lnTo>
                  <a:cubicBezTo>
                    <a:pt x="0" y="50423"/>
                    <a:pt x="7230" y="32968"/>
                    <a:pt x="20099" y="20099"/>
                  </a:cubicBezTo>
                  <a:cubicBezTo>
                    <a:pt x="32968" y="7230"/>
                    <a:pt x="50423" y="0"/>
                    <a:pt x="68623" y="0"/>
                  </a:cubicBezTo>
                  <a:close/>
                </a:path>
              </a:pathLst>
            </a:custGeom>
            <a:ln w="28575" cap="sq">
              <a:solidFill>
                <a:srgbClr val="FFFEF7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505438" cy="306442"/>
            </a:xfrm>
            <a:prstGeom prst="rect">
              <a:avLst/>
            </a:prstGeom>
          </p:spPr>
          <p:txBody>
            <a:bodyPr anchor="ctr" rtlCol="false" tIns="58761" lIns="58761" bIns="58761" rIns="58761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716501" y="4381961"/>
            <a:ext cx="623150" cy="62315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2828"/>
            </a:solidFill>
            <a:ln w="28575" cap="sq">
              <a:solidFill>
                <a:srgbClr val="FFFEF7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6202" lIns="56202" bIns="56202" rIns="56202"/>
            <a:lstStyle/>
            <a:p>
              <a:pPr algn="ctr">
                <a:lnSpc>
                  <a:spcPts val="3153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3552826" y="5181600"/>
            <a:ext cx="3420413" cy="339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57"/>
              </a:lnSpc>
            </a:pPr>
            <a:r>
              <a:rPr lang="en-US" b="true" sz="2482" spc="-74">
                <a:solidFill>
                  <a:srgbClr val="FFFEF7"/>
                </a:solidFill>
                <a:latin typeface="DM Sans Bold"/>
                <a:ea typeface="DM Sans Bold"/>
                <a:cs typeface="DM Sans Bold"/>
                <a:sym typeface="DM Sans Bold"/>
              </a:rPr>
              <a:t>SUELO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33794" y="7898353"/>
            <a:ext cx="3420413" cy="339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57"/>
              </a:lnSpc>
            </a:pPr>
            <a:r>
              <a:rPr lang="en-US" b="true" sz="2482" spc="-74">
                <a:solidFill>
                  <a:srgbClr val="FFFEF7"/>
                </a:solidFill>
                <a:latin typeface="DM Sans Bold"/>
                <a:ea typeface="DM Sans Bold"/>
                <a:cs typeface="DM Sans Bold"/>
                <a:sym typeface="DM Sans Bold"/>
              </a:rPr>
              <a:t>HISTORIA DEL TERRENO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4133851" y="4693536"/>
            <a:ext cx="2256380" cy="985327"/>
            <a:chOff x="0" y="0"/>
            <a:chExt cx="505438" cy="22071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5438" cy="220717"/>
            </a:xfrm>
            <a:custGeom>
              <a:avLst/>
              <a:gdLst/>
              <a:ahLst/>
              <a:cxnLst/>
              <a:rect r="r" b="b" t="t" l="l"/>
              <a:pathLst>
                <a:path h="220717" w="505438">
                  <a:moveTo>
                    <a:pt x="68623" y="0"/>
                  </a:moveTo>
                  <a:lnTo>
                    <a:pt x="436815" y="0"/>
                  </a:lnTo>
                  <a:cubicBezTo>
                    <a:pt x="455015" y="0"/>
                    <a:pt x="472470" y="7230"/>
                    <a:pt x="485339" y="20099"/>
                  </a:cubicBezTo>
                  <a:cubicBezTo>
                    <a:pt x="498208" y="32968"/>
                    <a:pt x="505438" y="50423"/>
                    <a:pt x="505438" y="68623"/>
                  </a:cubicBezTo>
                  <a:lnTo>
                    <a:pt x="505438" y="152095"/>
                  </a:lnTo>
                  <a:cubicBezTo>
                    <a:pt x="505438" y="170294"/>
                    <a:pt x="498208" y="187749"/>
                    <a:pt x="485339" y="200618"/>
                  </a:cubicBezTo>
                  <a:cubicBezTo>
                    <a:pt x="472470" y="213487"/>
                    <a:pt x="455015" y="220717"/>
                    <a:pt x="436815" y="220717"/>
                  </a:cubicBezTo>
                  <a:lnTo>
                    <a:pt x="68623" y="220717"/>
                  </a:lnTo>
                  <a:cubicBezTo>
                    <a:pt x="50423" y="220717"/>
                    <a:pt x="32968" y="213487"/>
                    <a:pt x="20099" y="200618"/>
                  </a:cubicBezTo>
                  <a:cubicBezTo>
                    <a:pt x="7230" y="187749"/>
                    <a:pt x="0" y="170294"/>
                    <a:pt x="0" y="152095"/>
                  </a:cubicBezTo>
                  <a:lnTo>
                    <a:pt x="0" y="68623"/>
                  </a:lnTo>
                  <a:cubicBezTo>
                    <a:pt x="0" y="50423"/>
                    <a:pt x="7230" y="32968"/>
                    <a:pt x="20099" y="20099"/>
                  </a:cubicBezTo>
                  <a:cubicBezTo>
                    <a:pt x="32968" y="7230"/>
                    <a:pt x="50423" y="0"/>
                    <a:pt x="68623" y="0"/>
                  </a:cubicBezTo>
                  <a:close/>
                </a:path>
              </a:pathLst>
            </a:custGeom>
            <a:ln w="28575" cap="sq">
              <a:solidFill>
                <a:srgbClr val="FFFEF7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85725"/>
              <a:ext cx="505438" cy="306442"/>
            </a:xfrm>
            <a:prstGeom prst="rect">
              <a:avLst/>
            </a:prstGeom>
          </p:spPr>
          <p:txBody>
            <a:bodyPr anchor="ctr" rtlCol="false" tIns="58761" lIns="58761" bIns="58761" rIns="58761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950466" y="4381961"/>
            <a:ext cx="623150" cy="62315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2828"/>
            </a:solidFill>
            <a:ln w="28575" cap="sq">
              <a:solidFill>
                <a:srgbClr val="FFFEF7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6202" lIns="56202" bIns="56202" rIns="56202"/>
            <a:lstStyle/>
            <a:p>
              <a:pPr algn="ctr">
                <a:lnSpc>
                  <a:spcPts val="3153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132102" y="7556318"/>
            <a:ext cx="3875088" cy="985327"/>
            <a:chOff x="0" y="0"/>
            <a:chExt cx="868035" cy="22071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68035" cy="220717"/>
            </a:xfrm>
            <a:custGeom>
              <a:avLst/>
              <a:gdLst/>
              <a:ahLst/>
              <a:cxnLst/>
              <a:rect r="r" b="b" t="t" l="l"/>
              <a:pathLst>
                <a:path h="220717" w="868035">
                  <a:moveTo>
                    <a:pt x="39957" y="0"/>
                  </a:moveTo>
                  <a:lnTo>
                    <a:pt x="828078" y="0"/>
                  </a:lnTo>
                  <a:cubicBezTo>
                    <a:pt x="838675" y="0"/>
                    <a:pt x="848838" y="4210"/>
                    <a:pt x="856332" y="11703"/>
                  </a:cubicBezTo>
                  <a:cubicBezTo>
                    <a:pt x="863825" y="19197"/>
                    <a:pt x="868035" y="29360"/>
                    <a:pt x="868035" y="39957"/>
                  </a:cubicBezTo>
                  <a:lnTo>
                    <a:pt x="868035" y="180760"/>
                  </a:lnTo>
                  <a:cubicBezTo>
                    <a:pt x="868035" y="202827"/>
                    <a:pt x="850145" y="220717"/>
                    <a:pt x="828078" y="220717"/>
                  </a:cubicBezTo>
                  <a:lnTo>
                    <a:pt x="39957" y="220717"/>
                  </a:lnTo>
                  <a:cubicBezTo>
                    <a:pt x="29360" y="220717"/>
                    <a:pt x="19197" y="216507"/>
                    <a:pt x="11703" y="209014"/>
                  </a:cubicBezTo>
                  <a:cubicBezTo>
                    <a:pt x="4210" y="201520"/>
                    <a:pt x="0" y="191357"/>
                    <a:pt x="0" y="180760"/>
                  </a:cubicBezTo>
                  <a:lnTo>
                    <a:pt x="0" y="39957"/>
                  </a:lnTo>
                  <a:cubicBezTo>
                    <a:pt x="0" y="29360"/>
                    <a:pt x="4210" y="19197"/>
                    <a:pt x="11703" y="11703"/>
                  </a:cubicBezTo>
                  <a:cubicBezTo>
                    <a:pt x="19197" y="4210"/>
                    <a:pt x="29360" y="0"/>
                    <a:pt x="39957" y="0"/>
                  </a:cubicBezTo>
                  <a:close/>
                </a:path>
              </a:pathLst>
            </a:custGeom>
            <a:ln w="28575" cap="sq">
              <a:solidFill>
                <a:srgbClr val="FFFEF7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85725"/>
              <a:ext cx="868035" cy="306442"/>
            </a:xfrm>
            <a:prstGeom prst="rect">
              <a:avLst/>
            </a:prstGeom>
          </p:spPr>
          <p:txBody>
            <a:bodyPr anchor="ctr" rtlCol="false" tIns="58761" lIns="58761" bIns="58761" rIns="58761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832425" y="7237103"/>
            <a:ext cx="623150" cy="62315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82828"/>
            </a:solidFill>
            <a:ln w="28575" cap="sq">
              <a:solidFill>
                <a:srgbClr val="FFFEF7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6202" lIns="56202" bIns="56202" rIns="56202"/>
            <a:lstStyle/>
            <a:p>
              <a:pPr algn="ctr">
                <a:lnSpc>
                  <a:spcPts val="3153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69049" y="2358319"/>
            <a:ext cx="11862572" cy="7087177"/>
            <a:chOff x="0" y="0"/>
            <a:chExt cx="2939843" cy="17563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39843" cy="1756380"/>
            </a:xfrm>
            <a:custGeom>
              <a:avLst/>
              <a:gdLst/>
              <a:ahLst/>
              <a:cxnLst/>
              <a:rect r="r" b="b" t="t" l="l"/>
              <a:pathLst>
                <a:path h="1756380" w="2939843">
                  <a:moveTo>
                    <a:pt x="13053" y="0"/>
                  </a:moveTo>
                  <a:lnTo>
                    <a:pt x="2926790" y="0"/>
                  </a:lnTo>
                  <a:cubicBezTo>
                    <a:pt x="2930252" y="0"/>
                    <a:pt x="2933572" y="1375"/>
                    <a:pt x="2936020" y="3823"/>
                  </a:cubicBezTo>
                  <a:cubicBezTo>
                    <a:pt x="2938468" y="6271"/>
                    <a:pt x="2939843" y="9591"/>
                    <a:pt x="2939843" y="13053"/>
                  </a:cubicBezTo>
                  <a:lnTo>
                    <a:pt x="2939843" y="1743327"/>
                  </a:lnTo>
                  <a:cubicBezTo>
                    <a:pt x="2939843" y="1746789"/>
                    <a:pt x="2938468" y="1750109"/>
                    <a:pt x="2936020" y="1752557"/>
                  </a:cubicBezTo>
                  <a:cubicBezTo>
                    <a:pt x="2933572" y="1755005"/>
                    <a:pt x="2930252" y="1756380"/>
                    <a:pt x="2926790" y="1756380"/>
                  </a:cubicBezTo>
                  <a:lnTo>
                    <a:pt x="13053" y="1756380"/>
                  </a:lnTo>
                  <a:cubicBezTo>
                    <a:pt x="9591" y="1756380"/>
                    <a:pt x="6271" y="1755005"/>
                    <a:pt x="3823" y="1752557"/>
                  </a:cubicBezTo>
                  <a:cubicBezTo>
                    <a:pt x="1375" y="1750109"/>
                    <a:pt x="0" y="1746789"/>
                    <a:pt x="0" y="1743327"/>
                  </a:cubicBezTo>
                  <a:lnTo>
                    <a:pt x="0" y="13053"/>
                  </a:lnTo>
                  <a:cubicBezTo>
                    <a:pt x="0" y="9591"/>
                    <a:pt x="1375" y="6271"/>
                    <a:pt x="3823" y="3823"/>
                  </a:cubicBezTo>
                  <a:cubicBezTo>
                    <a:pt x="6271" y="1375"/>
                    <a:pt x="9591" y="0"/>
                    <a:pt x="13053" y="0"/>
                  </a:cubicBezTo>
                  <a:close/>
                </a:path>
              </a:pathLst>
            </a:custGeom>
            <a:ln w="28575" cap="sq">
              <a:solidFill>
                <a:srgbClr val="FFFEF7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939843" cy="1804005"/>
            </a:xfrm>
            <a:prstGeom prst="rect">
              <a:avLst/>
            </a:prstGeom>
          </p:spPr>
          <p:txBody>
            <a:bodyPr anchor="ctr" rtlCol="false" tIns="53113" lIns="53113" bIns="53113" rIns="53113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24779" y="2760481"/>
            <a:ext cx="3377000" cy="4318922"/>
            <a:chOff x="0" y="0"/>
            <a:chExt cx="1189036" cy="15206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89036" cy="1520686"/>
            </a:xfrm>
            <a:custGeom>
              <a:avLst/>
              <a:gdLst/>
              <a:ahLst/>
              <a:cxnLst/>
              <a:rect r="r" b="b" t="t" l="l"/>
              <a:pathLst>
                <a:path h="1520686" w="1189036">
                  <a:moveTo>
                    <a:pt x="57314" y="0"/>
                  </a:moveTo>
                  <a:lnTo>
                    <a:pt x="1131723" y="0"/>
                  </a:lnTo>
                  <a:cubicBezTo>
                    <a:pt x="1146923" y="0"/>
                    <a:pt x="1161501" y="6038"/>
                    <a:pt x="1172250" y="16787"/>
                  </a:cubicBezTo>
                  <a:cubicBezTo>
                    <a:pt x="1182998" y="27535"/>
                    <a:pt x="1189036" y="42113"/>
                    <a:pt x="1189036" y="57314"/>
                  </a:cubicBezTo>
                  <a:lnTo>
                    <a:pt x="1189036" y="1463372"/>
                  </a:lnTo>
                  <a:cubicBezTo>
                    <a:pt x="1189036" y="1495026"/>
                    <a:pt x="1163376" y="1520686"/>
                    <a:pt x="1131723" y="1520686"/>
                  </a:cubicBezTo>
                  <a:lnTo>
                    <a:pt x="57314" y="1520686"/>
                  </a:lnTo>
                  <a:cubicBezTo>
                    <a:pt x="42113" y="1520686"/>
                    <a:pt x="27535" y="1514648"/>
                    <a:pt x="16787" y="1503899"/>
                  </a:cubicBezTo>
                  <a:cubicBezTo>
                    <a:pt x="6038" y="1493151"/>
                    <a:pt x="0" y="1478573"/>
                    <a:pt x="0" y="1463372"/>
                  </a:cubicBezTo>
                  <a:lnTo>
                    <a:pt x="0" y="57314"/>
                  </a:lnTo>
                  <a:cubicBezTo>
                    <a:pt x="0" y="42113"/>
                    <a:pt x="6038" y="27535"/>
                    <a:pt x="16787" y="16787"/>
                  </a:cubicBezTo>
                  <a:cubicBezTo>
                    <a:pt x="27535" y="6038"/>
                    <a:pt x="42113" y="0"/>
                    <a:pt x="57314" y="0"/>
                  </a:cubicBezTo>
                  <a:close/>
                </a:path>
              </a:pathLst>
            </a:custGeom>
            <a:ln w="28575" cap="rnd">
              <a:solidFill>
                <a:srgbClr val="FFFEF7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189036" cy="1568311"/>
            </a:xfrm>
            <a:prstGeom prst="rect">
              <a:avLst/>
            </a:prstGeom>
          </p:spPr>
          <p:txBody>
            <a:bodyPr anchor="ctr" rtlCol="false" tIns="53113" lIns="53113" bIns="53113" rIns="53113"/>
            <a:lstStyle/>
            <a:p>
              <a:pPr algn="ctr" marL="0" indent="0" lvl="0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84667" y="2865046"/>
            <a:ext cx="3054970" cy="4073294"/>
          </a:xfrm>
          <a:custGeom>
            <a:avLst/>
            <a:gdLst/>
            <a:ahLst/>
            <a:cxnLst/>
            <a:rect r="r" b="b" t="t" l="l"/>
            <a:pathLst>
              <a:path h="4073294" w="3054970">
                <a:moveTo>
                  <a:pt x="0" y="0"/>
                </a:moveTo>
                <a:lnTo>
                  <a:pt x="3054970" y="0"/>
                </a:lnTo>
                <a:lnTo>
                  <a:pt x="3054970" y="4073294"/>
                </a:lnTo>
                <a:lnTo>
                  <a:pt x="0" y="40732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35859" y="2760481"/>
            <a:ext cx="11244477" cy="6282851"/>
          </a:xfrm>
          <a:custGeom>
            <a:avLst/>
            <a:gdLst/>
            <a:ahLst/>
            <a:cxnLst/>
            <a:rect r="r" b="b" t="t" l="l"/>
            <a:pathLst>
              <a:path h="6282851" w="11244477">
                <a:moveTo>
                  <a:pt x="0" y="0"/>
                </a:moveTo>
                <a:lnTo>
                  <a:pt x="11244477" y="0"/>
                </a:lnTo>
                <a:lnTo>
                  <a:pt x="11244477" y="6282852"/>
                </a:lnTo>
                <a:lnTo>
                  <a:pt x="0" y="62828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20191" y="7823517"/>
            <a:ext cx="4983921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9343" indent="-254672" lvl="1">
              <a:lnSpc>
                <a:spcPts val="2830"/>
              </a:lnSpc>
              <a:buFont typeface="Arial"/>
              <a:buChar char="•"/>
            </a:pPr>
            <a:r>
              <a:rPr lang="en-US" sz="2359" spc="-70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crece exclusivamente en el </a:t>
            </a:r>
            <a:r>
              <a:rPr lang="en-US" sz="2359" spc="-70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desierto de Sonora</a:t>
            </a:r>
            <a:r>
              <a:rPr lang="en-US" sz="2359" spc="-70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, el cual abarca el suroeste de los Estados Unidos y el noroeste de México.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3685" y="929531"/>
            <a:ext cx="12642267" cy="763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111"/>
              </a:lnSpc>
              <a:spcBef>
                <a:spcPct val="0"/>
              </a:spcBef>
            </a:pPr>
            <a:r>
              <a:rPr lang="en-US" b="true" sz="6085" spc="146">
                <a:solidFill>
                  <a:srgbClr val="FFFEF7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E</a:t>
            </a:r>
            <a:r>
              <a:rPr lang="en-US" b="true" sz="6085" spc="146" strike="noStrike" u="none">
                <a:solidFill>
                  <a:srgbClr val="FFFEF7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S</a:t>
            </a:r>
            <a:r>
              <a:rPr lang="en-US" b="true" sz="6085" spc="146" strike="noStrike" u="none">
                <a:solidFill>
                  <a:srgbClr val="FFFEF7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PEC</a:t>
            </a:r>
            <a:r>
              <a:rPr lang="en-US" b="true" sz="6085" spc="146" strike="noStrike" u="none">
                <a:solidFill>
                  <a:srgbClr val="FFFEF7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I</a:t>
            </a:r>
            <a:r>
              <a:rPr lang="en-US" b="true" sz="6085" spc="146" strike="noStrike" u="none">
                <a:solidFill>
                  <a:srgbClr val="FFFEF7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E</a:t>
            </a:r>
            <a:r>
              <a:rPr lang="en-US" b="true" sz="6085" spc="146" strike="noStrike" u="none">
                <a:solidFill>
                  <a:srgbClr val="FFFEF7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 </a:t>
            </a:r>
            <a:r>
              <a:rPr lang="en-US" b="true" sz="6085" spc="146" strike="noStrike" u="none">
                <a:solidFill>
                  <a:srgbClr val="FFFEF7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IN</a:t>
            </a:r>
            <a:r>
              <a:rPr lang="en-US" b="true" sz="6085" spc="146" strike="noStrike" u="none">
                <a:solidFill>
                  <a:srgbClr val="FFFEF7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D</a:t>
            </a:r>
            <a:r>
              <a:rPr lang="en-US" b="true" sz="6085" spc="146" strike="noStrike" u="none">
                <a:solidFill>
                  <a:srgbClr val="FFFEF7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ICADOR</a:t>
            </a:r>
            <a:r>
              <a:rPr lang="en-US" b="true" sz="6085" spc="146" strike="noStrike" u="none">
                <a:solidFill>
                  <a:srgbClr val="FFFEF7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94097" y="1645902"/>
            <a:ext cx="634990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EF7"/>
                </a:solidFill>
                <a:latin typeface="Open Sauce"/>
                <a:ea typeface="Open Sauce"/>
                <a:cs typeface="Open Sauce"/>
                <a:sym typeface="Open Sauce"/>
              </a:rPr>
              <a:t>Ro</a:t>
            </a:r>
            <a:r>
              <a:rPr lang="en-US" sz="2400">
                <a:solidFill>
                  <a:srgbClr val="FFFEF7"/>
                </a:solidFill>
                <a:latin typeface="Open Sauce"/>
                <a:ea typeface="Open Sauce"/>
                <a:cs typeface="Open Sauce"/>
                <a:sym typeface="Open Sauce"/>
              </a:rPr>
              <a:t>bert Whittaker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37993" y="7160870"/>
            <a:ext cx="2750571" cy="405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6"/>
              </a:lnSpc>
            </a:pPr>
            <a:r>
              <a:rPr lang="en-US" sz="2411">
                <a:solidFill>
                  <a:srgbClr val="FFFEF7"/>
                </a:solidFill>
                <a:latin typeface="Open Sans"/>
                <a:ea typeface="Open Sans"/>
                <a:cs typeface="Open Sans"/>
                <a:sym typeface="Open Sans"/>
              </a:rPr>
              <a:t>Carn</a:t>
            </a:r>
            <a:r>
              <a:rPr lang="en-US" sz="2411">
                <a:solidFill>
                  <a:srgbClr val="FFFEF7"/>
                </a:solidFill>
                <a:latin typeface="Open Sans"/>
                <a:ea typeface="Open Sans"/>
                <a:cs typeface="Open Sans"/>
                <a:sym typeface="Open Sans"/>
              </a:rPr>
              <a:t>egiea gigantea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48947" y="3769507"/>
            <a:ext cx="3390106" cy="6272113"/>
          </a:xfrm>
          <a:custGeom>
            <a:avLst/>
            <a:gdLst/>
            <a:ahLst/>
            <a:cxnLst/>
            <a:rect r="r" b="b" t="t" l="l"/>
            <a:pathLst>
              <a:path h="6272113" w="3390106">
                <a:moveTo>
                  <a:pt x="0" y="0"/>
                </a:moveTo>
                <a:lnTo>
                  <a:pt x="3390106" y="0"/>
                </a:lnTo>
                <a:lnTo>
                  <a:pt x="3390106" y="6272113"/>
                </a:lnTo>
                <a:lnTo>
                  <a:pt x="0" y="62721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45353" y="1343539"/>
            <a:ext cx="11197293" cy="2531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14"/>
              </a:lnSpc>
              <a:spcBef>
                <a:spcPct val="0"/>
              </a:spcBef>
            </a:pPr>
            <a:r>
              <a:rPr lang="en-US" b="true" sz="7517" spc="-488">
                <a:solidFill>
                  <a:srgbClr val="FFFEF7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ASOCIACIÓN ENTRE ESPECIES Y GRUPOS DE SITIOS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20188" y="5631119"/>
            <a:ext cx="4889991" cy="250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EF7"/>
                </a:solidFill>
                <a:latin typeface="Open Sauce"/>
                <a:ea typeface="Open Sauce"/>
                <a:cs typeface="Open Sauce"/>
                <a:sym typeface="Open Sauce"/>
              </a:rPr>
              <a:t>Lo verás en ab</a:t>
            </a:r>
            <a:r>
              <a:rPr lang="en-US" sz="2400">
                <a:solidFill>
                  <a:srgbClr val="FFFEF7"/>
                </a:solidFill>
                <a:latin typeface="Open Sauce"/>
                <a:ea typeface="Open Sauce"/>
                <a:cs typeface="Open Sauce"/>
                <a:sym typeface="Open Sauce"/>
              </a:rPr>
              <a:t>undancia si visitas municipios montañosos como 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EF7"/>
                </a:solidFill>
                <a:latin typeface="Open Sauce"/>
                <a:ea typeface="Open Sauce"/>
                <a:cs typeface="Open Sauce"/>
                <a:sym typeface="Open Sauce"/>
              </a:rPr>
              <a:t>Constanza, 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EF7"/>
                </a:solidFill>
                <a:latin typeface="Open Sauce"/>
                <a:ea typeface="Open Sauce"/>
                <a:cs typeface="Open Sauce"/>
                <a:sym typeface="Open Sauce"/>
              </a:rPr>
              <a:t>Jarabacoa 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EF7"/>
                </a:solidFill>
                <a:latin typeface="Open Sauce"/>
                <a:ea typeface="Open Sauce"/>
                <a:cs typeface="Open Sauce"/>
                <a:sym typeface="Open Sauce"/>
              </a:rPr>
              <a:t>San José de las Matas (Sajoma)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55530" y="2882605"/>
            <a:ext cx="5815902" cy="6625677"/>
            <a:chOff x="0" y="0"/>
            <a:chExt cx="1302785" cy="14841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2785" cy="1484178"/>
            </a:xfrm>
            <a:custGeom>
              <a:avLst/>
              <a:gdLst/>
              <a:ahLst/>
              <a:cxnLst/>
              <a:rect r="r" b="b" t="t" l="l"/>
              <a:pathLst>
                <a:path h="1484178" w="1302785">
                  <a:moveTo>
                    <a:pt x="26623" y="0"/>
                  </a:moveTo>
                  <a:lnTo>
                    <a:pt x="1276162" y="0"/>
                  </a:lnTo>
                  <a:cubicBezTo>
                    <a:pt x="1290865" y="0"/>
                    <a:pt x="1302785" y="11920"/>
                    <a:pt x="1302785" y="26623"/>
                  </a:cubicBezTo>
                  <a:lnTo>
                    <a:pt x="1302785" y="1457554"/>
                  </a:lnTo>
                  <a:cubicBezTo>
                    <a:pt x="1302785" y="1472258"/>
                    <a:pt x="1290865" y="1484178"/>
                    <a:pt x="1276162" y="1484178"/>
                  </a:cubicBezTo>
                  <a:lnTo>
                    <a:pt x="26623" y="1484178"/>
                  </a:lnTo>
                  <a:cubicBezTo>
                    <a:pt x="19562" y="1484178"/>
                    <a:pt x="12791" y="1481373"/>
                    <a:pt x="7798" y="1476380"/>
                  </a:cubicBezTo>
                  <a:cubicBezTo>
                    <a:pt x="2805" y="1471387"/>
                    <a:pt x="0" y="1464615"/>
                    <a:pt x="0" y="1457554"/>
                  </a:cubicBezTo>
                  <a:lnTo>
                    <a:pt x="0" y="26623"/>
                  </a:lnTo>
                  <a:cubicBezTo>
                    <a:pt x="0" y="11920"/>
                    <a:pt x="11920" y="0"/>
                    <a:pt x="26623" y="0"/>
                  </a:cubicBezTo>
                  <a:close/>
                </a:path>
              </a:pathLst>
            </a:custGeom>
            <a:ln w="28575" cap="sq">
              <a:solidFill>
                <a:srgbClr val="FFFEF7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302785" cy="1569903"/>
            </a:xfrm>
            <a:prstGeom prst="rect">
              <a:avLst/>
            </a:prstGeom>
          </p:spPr>
          <p:txBody>
            <a:bodyPr anchor="ctr" rtlCol="false" tIns="58761" lIns="58761" bIns="58761" rIns="58761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586521" y="3067228"/>
            <a:ext cx="5408881" cy="5637764"/>
          </a:xfrm>
          <a:custGeom>
            <a:avLst/>
            <a:gdLst/>
            <a:ahLst/>
            <a:cxnLst/>
            <a:rect r="r" b="b" t="t" l="l"/>
            <a:pathLst>
              <a:path h="5637764" w="5408881">
                <a:moveTo>
                  <a:pt x="0" y="0"/>
                </a:moveTo>
                <a:lnTo>
                  <a:pt x="5408880" y="0"/>
                </a:lnTo>
                <a:lnTo>
                  <a:pt x="5408880" y="5637764"/>
                </a:lnTo>
                <a:lnTo>
                  <a:pt x="0" y="56377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700" t="0" r="-14647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619944" y="4424767"/>
            <a:ext cx="3639356" cy="4833533"/>
            <a:chOff x="0" y="0"/>
            <a:chExt cx="4852475" cy="6444711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378345"/>
              <a:ext cx="4852475" cy="6066366"/>
              <a:chOff x="0" y="0"/>
              <a:chExt cx="895145" cy="111907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95145" cy="1119074"/>
              </a:xfrm>
              <a:custGeom>
                <a:avLst/>
                <a:gdLst/>
                <a:ahLst/>
                <a:cxnLst/>
                <a:rect r="r" b="b" t="t" l="l"/>
                <a:pathLst>
                  <a:path h="1119074" w="895145">
                    <a:moveTo>
                      <a:pt x="38747" y="0"/>
                    </a:moveTo>
                    <a:lnTo>
                      <a:pt x="856398" y="0"/>
                    </a:lnTo>
                    <a:cubicBezTo>
                      <a:pt x="877797" y="0"/>
                      <a:pt x="895145" y="17348"/>
                      <a:pt x="895145" y="38747"/>
                    </a:cubicBezTo>
                    <a:lnTo>
                      <a:pt x="895145" y="1080326"/>
                    </a:lnTo>
                    <a:cubicBezTo>
                      <a:pt x="895145" y="1101726"/>
                      <a:pt x="877797" y="1119074"/>
                      <a:pt x="856398" y="1119074"/>
                    </a:cubicBezTo>
                    <a:lnTo>
                      <a:pt x="38747" y="1119074"/>
                    </a:lnTo>
                    <a:cubicBezTo>
                      <a:pt x="17348" y="1119074"/>
                      <a:pt x="0" y="1101726"/>
                      <a:pt x="0" y="1080326"/>
                    </a:cubicBezTo>
                    <a:lnTo>
                      <a:pt x="0" y="38747"/>
                    </a:lnTo>
                    <a:cubicBezTo>
                      <a:pt x="0" y="17348"/>
                      <a:pt x="17348" y="0"/>
                      <a:pt x="38747" y="0"/>
                    </a:cubicBezTo>
                    <a:close/>
                  </a:path>
                </a:pathLst>
              </a:custGeom>
              <a:ln w="28575" cap="sq">
                <a:solidFill>
                  <a:srgbClr val="FFFEF7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85725"/>
                <a:ext cx="895145" cy="1204799"/>
              </a:xfrm>
              <a:prstGeom prst="rect">
                <a:avLst/>
              </a:prstGeom>
            </p:spPr>
            <p:txBody>
              <a:bodyPr anchor="ctr" rtlCol="false" tIns="58761" lIns="58761" bIns="58761" rIns="58761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047892" y="0"/>
              <a:ext cx="756690" cy="756690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82828"/>
              </a:solidFill>
              <a:ln w="28575" cap="sq">
                <a:solidFill>
                  <a:srgbClr val="FFFEF7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anchor="ctr" rtlCol="false" tIns="56202" lIns="56202" bIns="56202" rIns="56202"/>
              <a:lstStyle/>
              <a:p>
                <a:pPr algn="ctr">
                  <a:lnSpc>
                    <a:spcPts val="3153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28216" y="937158"/>
              <a:ext cx="4196043" cy="51952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95"/>
                </a:lnSpc>
              </a:pPr>
              <a:r>
                <a:rPr lang="en-US" sz="1746" i="true" spc="-52">
                  <a:solidFill>
                    <a:srgbClr val="FFFEF7"/>
                  </a:solidFill>
                  <a:latin typeface="DM Sans Italics"/>
                  <a:ea typeface="DM Sans Italics"/>
                  <a:cs typeface="DM Sans Italics"/>
                  <a:sym typeface="DM Sans Italics"/>
                </a:rPr>
                <a:t>El barrancolí (nombre científico: </a:t>
              </a:r>
              <a:r>
                <a:rPr lang="en-US" sz="1746" i="true" spc="-52">
                  <a:solidFill>
                    <a:srgbClr val="FFFEF7"/>
                  </a:solidFill>
                  <a:latin typeface="DM Sans Italics"/>
                  <a:ea typeface="DM Sans Italics"/>
                  <a:cs typeface="DM Sans Italics"/>
                  <a:sym typeface="DM Sans Italics"/>
                  <a:hlinkClick r:id="rId3" tooltip="https://es.wikipedia.org/wiki/Todus_subulatus"/>
                </a:rPr>
                <a:t>Todus subulatus</a:t>
              </a:r>
              <a:r>
                <a:rPr lang="en-US" sz="1746" i="true" spc="-52">
                  <a:solidFill>
                    <a:srgbClr val="FFFEF7"/>
                  </a:solidFill>
                  <a:latin typeface="DM Sans Italics"/>
                  <a:ea typeface="DM Sans Italics"/>
                  <a:cs typeface="DM Sans Italics"/>
                  <a:sym typeface="DM Sans Italics"/>
                </a:rPr>
                <a:t>), también conocido como barrancolí picogrueso o cortacubas de pico ancho, es una pequeña</a:t>
              </a:r>
              <a:r>
                <a:rPr lang="en-US" sz="1746" i="true" spc="-52">
                  <a:solidFill>
                    <a:srgbClr val="FFFEF7"/>
                  </a:solidFill>
                  <a:latin typeface="DM Sans Italics"/>
                  <a:ea typeface="DM Sans Italics"/>
                  <a:cs typeface="DM Sans Italics"/>
                  <a:sym typeface="DM Sans Italics"/>
                </a:rPr>
                <a:t> ave endémica de la isla de La Española (compartida por la República Dominicana y Haití). Destaca internacionalmente por su plumaje verde brillante, su garganta roja intensa y por haber sido elegido como Colí, la mascota oficial</a:t>
              </a:r>
              <a:r>
                <a:rPr lang="en-US" sz="1746" strike="noStrike" i="true" spc="-52" u="none">
                  <a:solidFill>
                    <a:srgbClr val="FFFEF7"/>
                  </a:solidFill>
                  <a:latin typeface="DM Sans Italics"/>
                  <a:ea typeface="DM Sans Italics"/>
                  <a:cs typeface="DM Sans Italics"/>
                  <a:sym typeface="DM Sans Italics"/>
                </a:rPr>
                <a:t> de los Juegos Centroamericanos y del Caribe Santo Domingo 2026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3214569" y="2763650"/>
            <a:ext cx="4498025" cy="1948383"/>
          </a:xfrm>
          <a:custGeom>
            <a:avLst/>
            <a:gdLst/>
            <a:ahLst/>
            <a:cxnLst/>
            <a:rect r="r" b="b" t="t" l="l"/>
            <a:pathLst>
              <a:path h="1948383" w="4498025">
                <a:moveTo>
                  <a:pt x="0" y="0"/>
                </a:moveTo>
                <a:lnTo>
                  <a:pt x="4498025" y="0"/>
                </a:lnTo>
                <a:lnTo>
                  <a:pt x="4498025" y="1948383"/>
                </a:lnTo>
                <a:lnTo>
                  <a:pt x="0" y="19483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580755" y="8939363"/>
            <a:ext cx="3420413" cy="33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57"/>
              </a:lnSpc>
              <a:spcBef>
                <a:spcPct val="0"/>
              </a:spcBef>
            </a:pPr>
            <a:r>
              <a:rPr lang="en-US" b="true" sz="2482" spc="-74" strike="noStrike" u="none">
                <a:solidFill>
                  <a:srgbClr val="FFFEF7"/>
                </a:solidFill>
                <a:latin typeface="DM Sans Bold"/>
                <a:ea typeface="DM Sans Bold"/>
                <a:cs typeface="DM Sans Bold"/>
                <a:sym typeface="DM Sans Bold"/>
              </a:rPr>
              <a:t>BA</a:t>
            </a:r>
            <a:r>
              <a:rPr lang="en-US" b="true" sz="2482" spc="-74" strike="noStrike" u="none">
                <a:solidFill>
                  <a:srgbClr val="FFFEF7"/>
                </a:solidFill>
                <a:latin typeface="DM Sans Bold"/>
                <a:ea typeface="DM Sans Bold"/>
                <a:cs typeface="DM Sans Bold"/>
                <a:sym typeface="DM Sans Bold"/>
              </a:rPr>
              <a:t>R</a:t>
            </a:r>
            <a:r>
              <a:rPr lang="en-US" b="true" sz="2482" spc="-74" strike="noStrike" u="none">
                <a:solidFill>
                  <a:srgbClr val="FFFEF7"/>
                </a:solidFill>
                <a:latin typeface="DM Sans Bold"/>
                <a:ea typeface="DM Sans Bold"/>
                <a:cs typeface="DM Sans Bold"/>
                <a:sym typeface="DM Sans Bold"/>
              </a:rPr>
              <a:t>R</a:t>
            </a:r>
            <a:r>
              <a:rPr lang="en-US" b="true" sz="2482" spc="-74" strike="noStrike" u="none">
                <a:solidFill>
                  <a:srgbClr val="FFFEF7"/>
                </a:solidFill>
                <a:latin typeface="DM Sans Bold"/>
                <a:ea typeface="DM Sans Bold"/>
                <a:cs typeface="DM Sans Bold"/>
                <a:sym typeface="DM Sans Bold"/>
              </a:rPr>
              <a:t>A</a:t>
            </a:r>
            <a:r>
              <a:rPr lang="en-US" b="true" sz="2482" spc="-74" strike="noStrike" u="none">
                <a:solidFill>
                  <a:srgbClr val="FFFEF7"/>
                </a:solidFill>
                <a:latin typeface="DM Sans Bold"/>
                <a:ea typeface="DM Sans Bold"/>
                <a:cs typeface="DM Sans Bold"/>
                <a:sym typeface="DM Sans Bold"/>
              </a:rPr>
              <a:t>NC</a:t>
            </a:r>
            <a:r>
              <a:rPr lang="en-US" b="true" sz="2482" spc="-74" strike="noStrike" u="none">
                <a:solidFill>
                  <a:srgbClr val="FFFEF7"/>
                </a:solidFill>
                <a:latin typeface="DM Sans Bold"/>
                <a:ea typeface="DM Sans Bold"/>
                <a:cs typeface="DM Sans Bold"/>
                <a:sym typeface="DM Sans Bold"/>
              </a:rPr>
              <a:t>O</a:t>
            </a:r>
            <a:r>
              <a:rPr lang="en-US" b="true" sz="2482" spc="-74" strike="noStrike" u="none">
                <a:solidFill>
                  <a:srgbClr val="FFFEF7"/>
                </a:solidFill>
                <a:latin typeface="DM Sans Bold"/>
                <a:ea typeface="DM Sans Bold"/>
                <a:cs typeface="DM Sans Bold"/>
                <a:sym typeface="DM Sans Bold"/>
              </a:rPr>
              <a:t>L</a:t>
            </a:r>
            <a:r>
              <a:rPr lang="en-US" b="true" sz="2482" spc="-74" strike="noStrike" u="none">
                <a:solidFill>
                  <a:srgbClr val="FFFEF7"/>
                </a:solidFill>
                <a:latin typeface="DM Sans Bold"/>
                <a:ea typeface="DM Sans Bold"/>
                <a:cs typeface="DM Sans Bold"/>
                <a:sym typeface="DM Sans Bold"/>
              </a:rPr>
              <a:t>ÍS</a:t>
            </a:r>
            <a:r>
              <a:rPr lang="en-US" b="true" sz="2482" spc="-74" strike="noStrike" u="none">
                <a:solidFill>
                  <a:srgbClr val="FFFEF7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68507" y="807896"/>
            <a:ext cx="13895074" cy="173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14"/>
              </a:lnSpc>
              <a:spcBef>
                <a:spcPct val="0"/>
              </a:spcBef>
            </a:pPr>
            <a:r>
              <a:rPr lang="en-US" b="true" sz="7517" spc="-488">
                <a:solidFill>
                  <a:srgbClr val="FFFEF7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FIDELIDAD Y LA PREFERENCIA DE HÁBITAT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2364370" y="4424767"/>
            <a:ext cx="2442332" cy="4144666"/>
            <a:chOff x="0" y="0"/>
            <a:chExt cx="3256443" cy="552622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201960" y="139412"/>
              <a:ext cx="2852856" cy="4417118"/>
            </a:xfrm>
            <a:custGeom>
              <a:avLst/>
              <a:gdLst/>
              <a:ahLst/>
              <a:cxnLst/>
              <a:rect r="r" b="b" t="t" l="l"/>
              <a:pathLst>
                <a:path h="4417118" w="2852856">
                  <a:moveTo>
                    <a:pt x="0" y="0"/>
                  </a:moveTo>
                  <a:lnTo>
                    <a:pt x="2852855" y="0"/>
                  </a:lnTo>
                  <a:lnTo>
                    <a:pt x="2852855" y="4417118"/>
                  </a:lnTo>
                  <a:lnTo>
                    <a:pt x="0" y="4417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grpSp>
          <p:nvGrpSpPr>
            <p:cNvPr name="Group 19" id="19"/>
            <p:cNvGrpSpPr/>
            <p:nvPr/>
          </p:nvGrpSpPr>
          <p:grpSpPr>
            <a:xfrm rot="0">
              <a:off x="0" y="0"/>
              <a:ext cx="3256443" cy="5526221"/>
              <a:chOff x="0" y="0"/>
              <a:chExt cx="547092" cy="928421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547092" cy="928421"/>
              </a:xfrm>
              <a:custGeom>
                <a:avLst/>
                <a:gdLst/>
                <a:ahLst/>
                <a:cxnLst/>
                <a:rect r="r" b="b" t="t" l="l"/>
                <a:pathLst>
                  <a:path h="928421" w="547092">
                    <a:moveTo>
                      <a:pt x="63398" y="0"/>
                    </a:moveTo>
                    <a:lnTo>
                      <a:pt x="483694" y="0"/>
                    </a:lnTo>
                    <a:cubicBezTo>
                      <a:pt x="518708" y="0"/>
                      <a:pt x="547092" y="28384"/>
                      <a:pt x="547092" y="63398"/>
                    </a:cubicBezTo>
                    <a:lnTo>
                      <a:pt x="547092" y="865024"/>
                    </a:lnTo>
                    <a:cubicBezTo>
                      <a:pt x="547092" y="900037"/>
                      <a:pt x="518708" y="928421"/>
                      <a:pt x="483694" y="928421"/>
                    </a:cubicBezTo>
                    <a:lnTo>
                      <a:pt x="63398" y="928421"/>
                    </a:lnTo>
                    <a:cubicBezTo>
                      <a:pt x="46584" y="928421"/>
                      <a:pt x="30458" y="921742"/>
                      <a:pt x="18569" y="909853"/>
                    </a:cubicBezTo>
                    <a:cubicBezTo>
                      <a:pt x="6679" y="897963"/>
                      <a:pt x="0" y="881838"/>
                      <a:pt x="0" y="865024"/>
                    </a:cubicBezTo>
                    <a:lnTo>
                      <a:pt x="0" y="63398"/>
                    </a:lnTo>
                    <a:cubicBezTo>
                      <a:pt x="0" y="46584"/>
                      <a:pt x="6679" y="30458"/>
                      <a:pt x="18569" y="18569"/>
                    </a:cubicBezTo>
                    <a:cubicBezTo>
                      <a:pt x="30458" y="6679"/>
                      <a:pt x="46584" y="0"/>
                      <a:pt x="63398" y="0"/>
                    </a:cubicBezTo>
                    <a:close/>
                  </a:path>
                </a:pathLst>
              </a:custGeom>
              <a:ln w="28575" cap="sq">
                <a:solidFill>
                  <a:srgbClr val="FFFEF7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85725"/>
                <a:ext cx="547092" cy="1014146"/>
              </a:xfrm>
              <a:prstGeom prst="rect">
                <a:avLst/>
              </a:prstGeom>
            </p:spPr>
            <p:txBody>
              <a:bodyPr anchor="ctr" rtlCol="false" tIns="58761" lIns="58761" bIns="58761" rIns="58761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0" y="4826563"/>
              <a:ext cx="3128422" cy="4622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57"/>
                </a:lnSpc>
                <a:spcBef>
                  <a:spcPct val="0"/>
                </a:spcBef>
              </a:pPr>
              <a:r>
                <a:rPr lang="en-US" b="true" sz="2482" spc="-74">
                  <a:solidFill>
                    <a:srgbClr val="FFFE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PALOMA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28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14353" y="3691784"/>
            <a:ext cx="9859295" cy="993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54"/>
              </a:lnSpc>
              <a:spcBef>
                <a:spcPct val="0"/>
              </a:spcBef>
            </a:pPr>
            <a:r>
              <a:rPr lang="en-US" b="true" sz="8040" spc="-522">
                <a:solidFill>
                  <a:srgbClr val="FFFEF7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CONCLUSIÓN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896883" y="5105400"/>
            <a:ext cx="12494234" cy="2796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7"/>
              </a:lnSpc>
            </a:pP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 las especies indicadoras y sus pref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erencias de 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h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áb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ita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nos demu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estra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n que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a na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tu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al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z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a 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es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 e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 re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fl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jo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viv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o 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de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 m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a.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Entender cómo los seres vivos se conectan con su territ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or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no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da la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herr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mient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ra 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mp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r 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y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pro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ger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a 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b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dive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rs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id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e n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u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est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o 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an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ta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r>
              <a:rPr lang="en-US" sz="3399" spc="81">
                <a:solidFill>
                  <a:srgbClr val="FFFEF7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28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34529" y="792913"/>
            <a:ext cx="10075289" cy="6716860"/>
          </a:xfrm>
          <a:custGeom>
            <a:avLst/>
            <a:gdLst/>
            <a:ahLst/>
            <a:cxnLst/>
            <a:rect r="r" b="b" t="t" l="l"/>
            <a:pathLst>
              <a:path h="6716860" w="10075289">
                <a:moveTo>
                  <a:pt x="0" y="0"/>
                </a:moveTo>
                <a:lnTo>
                  <a:pt x="10075290" y="0"/>
                </a:lnTo>
                <a:lnTo>
                  <a:pt x="10075290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5103158" cy="5103158"/>
          </a:xfrm>
          <a:custGeom>
            <a:avLst/>
            <a:gdLst/>
            <a:ahLst/>
            <a:cxnLst/>
            <a:rect r="r" b="b" t="t" l="l"/>
            <a:pathLst>
              <a:path h="5103158" w="5103158">
                <a:moveTo>
                  <a:pt x="0" y="0"/>
                </a:moveTo>
                <a:lnTo>
                  <a:pt x="5103158" y="0"/>
                </a:lnTo>
                <a:lnTo>
                  <a:pt x="5103158" y="5103158"/>
                </a:lnTo>
                <a:lnTo>
                  <a:pt x="0" y="51031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DAHTIQ-YpQ8</dc:identifier>
  <dcterms:modified xsi:type="dcterms:W3CDTF">2011-08-01T06:04:30Z</dcterms:modified>
  <cp:revision>1</cp:revision>
  <dc:title>Biogeografia</dc:title>
</cp:coreProperties>
</file>